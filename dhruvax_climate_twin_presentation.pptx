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26419"/>
                </a:solidFill>
                <a:latin typeface="Trebuchet MS"/>
              </a:defRPr>
            </a:pPr>
            <a:r>
              <a:t>BHARATIYA ANTARIKSH HACKATHON 2026</a:t>
            </a:r>
          </a:p>
          <a:p>
            <a:pPr>
              <a:spcBef>
                <a:spcPts val="1000"/>
              </a:spcBef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AI-Powered Digital Twin of India's Climate</a:t>
            </a:r>
          </a:p>
          <a:p>
            <a:pPr>
              <a:spcBef>
                <a:spcPts val="1000"/>
              </a:spcBef>
              <a:defRPr sz="1800">
                <a:solidFill>
                  <a:srgbClr val="00B4D8"/>
                </a:solidFill>
                <a:latin typeface="Arial"/>
              </a:defRPr>
            </a:pPr>
            <a:r>
              <a:t>Spatial-Temporal Anomaly Analytics &amp; Vulnerability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Trebuchet MS"/>
              </a:defRPr>
            </a:pPr>
            <a:r>
              <a:t>Team Name: DhruvaX</a:t>
            </a:r>
          </a:p>
          <a:p>
            <a:pPr>
              <a:spcBef>
                <a:spcPts val="600"/>
              </a:spcBef>
              <a:defRPr sz="1600">
                <a:solidFill>
                  <a:srgbClr val="00B4D8"/>
                </a:solidFill>
                <a:latin typeface="Arial"/>
              </a:defRPr>
            </a:pPr>
            <a:r>
              <a:t>Team Leader: Dhanveer M</a:t>
            </a:r>
          </a:p>
          <a:p>
            <a:pPr>
              <a:spcBef>
                <a:spcPts val="1500"/>
              </a:spcBef>
              <a:defRPr sz="1400">
                <a:solidFill>
                  <a:srgbClr val="BEC8DC"/>
                </a:solidFill>
                <a:latin typeface="Arial"/>
              </a:defRPr>
            </a:pPr>
            <a:r>
              <a:t>Problem Statement: AI-Powered Digital Twin of India's Climate using India's National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B132B"/>
                </a:solidFill>
                <a:latin typeface="Trebuchet MS"/>
              </a:defRPr>
            </a:pPr>
            <a:r>
              <a:t>Team Members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ISRO Bharatiya Antariksh Hackathon 2026  |  Designed by Team DhruvaX  |  Digital Twin of India's Climate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4876495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F26419"/>
                </a:solidFill>
                <a:latin typeface="Trebuchet MS"/>
              </a:defRPr>
            </a:pPr>
            <a:r>
              <a:t>Team Leader</a:t>
            </a:r>
          </a:p>
          <a:p>
            <a:pPr>
              <a:spcBef>
                <a:spcPts val="800"/>
              </a:spcBef>
              <a:defRPr sz="1800" b="1">
                <a:solidFill>
                  <a:srgbClr val="0B132B"/>
                </a:solidFill>
                <a:latin typeface="Trebuchet MS"/>
              </a:defRPr>
            </a:pPr>
            <a:r>
              <a:t>Name: Dhanveer M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College: College / Institution Name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645920"/>
            <a:ext cx="4876495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F26419"/>
                </a:solidFill>
                <a:latin typeface="Trebuchet MS"/>
              </a:defRPr>
            </a:pPr>
            <a:r>
              <a:t>Team Member 1</a:t>
            </a:r>
          </a:p>
          <a:p>
            <a:pPr>
              <a:spcBef>
                <a:spcPts val="800"/>
              </a:spcBef>
              <a:defRPr sz="1800" b="1">
                <a:solidFill>
                  <a:srgbClr val="0B132B"/>
                </a:solidFill>
                <a:latin typeface="Trebuchet MS"/>
              </a:defRPr>
            </a:pPr>
            <a:r>
              <a:t>Name: Jovin Joshua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College: College / Institution 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31920"/>
            <a:ext cx="4876495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F26419"/>
                </a:solidFill>
                <a:latin typeface="Trebuchet MS"/>
              </a:defRPr>
            </a:pPr>
            <a:r>
              <a:t>Team Member 2</a:t>
            </a:r>
          </a:p>
          <a:p>
            <a:pPr>
              <a:spcBef>
                <a:spcPts val="800"/>
              </a:spcBef>
              <a:defRPr sz="1800" b="1">
                <a:solidFill>
                  <a:srgbClr val="0B132B"/>
                </a:solidFill>
                <a:latin typeface="Trebuchet MS"/>
              </a:defRPr>
            </a:pPr>
            <a:r>
              <a:t>Name: Elamaran B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College: College / Institution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931920"/>
            <a:ext cx="4876495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F26419"/>
                </a:solidFill>
                <a:latin typeface="Trebuchet MS"/>
              </a:defRPr>
            </a:pPr>
            <a:r>
              <a:t>Team Member 3</a:t>
            </a:r>
          </a:p>
          <a:p>
            <a:pPr>
              <a:spcBef>
                <a:spcPts val="800"/>
              </a:spcBef>
              <a:defRPr sz="1800" b="1">
                <a:solidFill>
                  <a:srgbClr val="0B132B"/>
                </a:solidFill>
                <a:latin typeface="Trebuchet MS"/>
              </a:defRPr>
            </a:pPr>
            <a:r>
              <a:t>Name: Athish K.B</a:t>
            </a:r>
          </a:p>
          <a:p>
            <a:pPr>
              <a:spcBef>
                <a:spcPts val="600"/>
              </a:spcBef>
              <a:defRPr sz="1200">
                <a:solidFill>
                  <a:srgbClr val="282828"/>
                </a:solidFill>
                <a:latin typeface="Arial"/>
              </a:defRPr>
            </a:pPr>
            <a:r>
              <a:t>College: College / Institution Name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B132B"/>
                </a:solidFill>
                <a:latin typeface="Trebuchet MS"/>
              </a:defRPr>
            </a:pPr>
            <a:r>
              <a:t>Opportunity &amp; Uniqueness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ISRO Bharatiya Antariksh Hackathon 2026  |  Designed by Team DhruvaX  |  Digital Twin of India's Climate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0B132B"/>
                </a:solidFill>
                <a:latin typeface="Trebuchet MS"/>
              </a:defRPr>
            </a:pPr>
            <a:r>
              <a:t>How different is it from existing ideas?</a:t>
            </a:r>
          </a:p>
          <a:p>
            <a:pPr>
              <a:spcBef>
                <a:spcPts val="1200"/>
              </a:spcBef>
              <a:defRPr b="1" sz="1200">
                <a:solidFill>
                  <a:srgbClr val="0B132B"/>
                </a:solidFill>
                <a:latin typeface="Trebuchet MS"/>
              </a:defRPr>
            </a:pPr>
            <a:r>
              <a:t>• Unified Meteorological Analysis: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Integrates spatial temperature, rainfall, and multi-state anomalies into a single operating dashboard.</a:t>
            </a:r>
          </a:p>
          <a:p>
            <a:pPr>
              <a:spcBef>
                <a:spcPts val="1200"/>
              </a:spcBef>
              <a:defRPr b="1" sz="1200">
                <a:solidFill>
                  <a:srgbClr val="0B132B"/>
                </a:solidFill>
                <a:latin typeface="Trebuchet MS"/>
              </a:defRPr>
            </a:pPr>
            <a:r>
              <a:t>• High-Fidelity Virtual Twin: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Computes realistic rolling seasonality instead of simple linear models.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0B132B"/>
                </a:solidFill>
                <a:latin typeface="Trebuchet MS"/>
              </a:defRPr>
            </a:pPr>
            <a:r>
              <a:t>How will it solve the problem?</a:t>
            </a:r>
          </a:p>
          <a:p>
            <a:pPr>
              <a:spcBef>
                <a:spcPts val="1200"/>
              </a:spcBef>
              <a:defRPr sz="1100">
                <a:solidFill>
                  <a:srgbClr val="282828"/>
                </a:solidFill>
                <a:latin typeface="Trebuchet MS"/>
              </a:defRPr>
            </a:pPr>
            <a:r>
              <a:t>• Translates complex ISRO and national climatology data into daily interactive visual maps.</a:t>
            </a:r>
          </a:p>
          <a:p>
            <a:pPr>
              <a:spcBef>
                <a:spcPts val="1200"/>
              </a:spcBef>
              <a:defRPr sz="1100">
                <a:solidFill>
                  <a:srgbClr val="282828"/>
                </a:solidFill>
                <a:latin typeface="Trebuchet MS"/>
              </a:defRPr>
            </a:pPr>
            <a:r>
              <a:t>• Enables localized multi-horizon forecasting (7-day and 30-day horizons) to let administrators plan ahead.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6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500" b="1">
                <a:solidFill>
                  <a:srgbClr val="0B132B"/>
                </a:solidFill>
                <a:latin typeface="Trebuchet MS"/>
              </a:defRPr>
            </a:pPr>
            <a:r>
              <a:t>USP of the Proposed Solution</a:t>
            </a:r>
          </a:p>
          <a:p>
            <a:pPr>
              <a:spcBef>
                <a:spcPts val="1200"/>
              </a:spcBef>
              <a:defRPr b="1" sz="1200">
                <a:solidFill>
                  <a:srgbClr val="F26419"/>
                </a:solidFill>
                <a:latin typeface="Trebuchet MS"/>
              </a:defRPr>
            </a:pPr>
            <a:r>
              <a:t>• Dynamic What-If Sandbox: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Run warming simulations (+1°C to +3°C) and rainfall delta checks to see immediate sectoral effects.</a:t>
            </a:r>
          </a:p>
          <a:p>
            <a:pPr>
              <a:spcBef>
                <a:spcPts val="1200"/>
              </a:spcBef>
              <a:defRPr b="1" sz="1200">
                <a:solidFill>
                  <a:srgbClr val="F26419"/>
                </a:solidFill>
                <a:latin typeface="Trebuchet MS"/>
              </a:defRPr>
            </a:pPr>
            <a:r>
              <a:t>• AI-Driven Warning Cards: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Automatically alerts about heat hazards and crop droughts.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B132B"/>
                </a:solidFill>
                <a:latin typeface="Trebuchet MS"/>
              </a:defRPr>
            </a:pPr>
            <a:r>
              <a:t>List of Features Offered by 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ISRO Bharatiya Antariksh Hackathon 2026  |  Designed by Team DhruvaX  |  Digital Twin of India's Climate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F26419"/>
                </a:solidFill>
                <a:latin typeface="Trebuchet MS"/>
              </a:defRPr>
            </a:pPr>
            <a:r>
              <a:t>1. Meteorological Overview Dashboard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Clean temporal analytics of state-wise temperature and monsoon rainfall anomaly indices.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F26419"/>
                </a:solidFill>
                <a:latin typeface="Trebuchet MS"/>
              </a:defRPr>
            </a:pPr>
            <a:r>
              <a:t>2. GIS Operations Room Map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Interactive geospatial maps overlaying Z-scores and departure maps for state-by-state assessment.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5120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F26419"/>
                </a:solidFill>
                <a:latin typeface="Trebuchet MS"/>
              </a:defRPr>
            </a:pPr>
            <a:r>
              <a:t>3. Recursive AI Forecasting Engine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Pre-trained XGBoost and RF models for multi-step 7-day and 30-day climate forecasting.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108960"/>
            <a:ext cx="5120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F26419"/>
                </a:solidFill>
                <a:latin typeface="Trebuchet MS"/>
              </a:defRPr>
            </a:pPr>
            <a:r>
              <a:t>4. What-If Stress Sandbox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Simulate and stress-test regional climate response to temperature anomalies and rainfall variances.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72000"/>
            <a:ext cx="5120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F26419"/>
                </a:solidFill>
                <a:latin typeface="Trebuchet MS"/>
              </a:defRPr>
            </a:pPr>
            <a:r>
              <a:t>5. Active Warning Cards &amp; Alarms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Automated alarm banners indicating severe heat hazards, agricultural drought, and flood levels.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572000"/>
            <a:ext cx="512064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F26419"/>
                </a:solidFill>
                <a:latin typeface="Trebuchet MS"/>
              </a:defRPr>
            </a:pPr>
            <a:r>
              <a:t>6. Offline Local DB Cache</a:t>
            </a:r>
          </a:p>
          <a:p>
            <a:pPr>
              <a:spcBef>
                <a:spcPts val="4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SQLite database caching 220,000+ daily meteorological records to run efficiently offline.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B132B"/>
                </a:solidFill>
                <a:latin typeface="Trebuchet MS"/>
              </a:defRPr>
            </a:pPr>
            <a:r>
              <a:t>Process Flow &amp; Data Operations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ISRO Bharatiya Antariksh Hackathon 2026  |  Designed by Team DhruvaX  |  Digital Twin of India's Climate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2860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400" b="1">
                <a:solidFill>
                  <a:srgbClr val="F26419"/>
                </a:solidFill>
                <a:latin typeface="Trebuchet MS"/>
              </a:defRPr>
            </a:pPr>
            <a:r>
              <a:t>1. Data Ingestion</a:t>
            </a:r>
          </a:p>
          <a:p>
            <a:pPr algn="ctr">
              <a:spcBef>
                <a:spcPts val="10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SQLite database loading 220,000+ daily meteorology records (2010-2026)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3200400"/>
            <a:ext cx="457200" cy="36576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2377440"/>
            <a:ext cx="22860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400" b="1">
                <a:solidFill>
                  <a:srgbClr val="F26419"/>
                </a:solidFill>
                <a:latin typeface="Trebuchet MS"/>
              </a:defRPr>
            </a:pPr>
            <a:r>
              <a:t>2. Feature Engineering</a:t>
            </a:r>
          </a:p>
          <a:p>
            <a:pPr algn="ctr">
              <a:spcBef>
                <a:spcPts val="10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Calculates rolling seasonality &amp; multi-step forecast indicators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52160" y="3200400"/>
            <a:ext cx="457200" cy="36576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377440"/>
            <a:ext cx="22860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400" b="1">
                <a:solidFill>
                  <a:srgbClr val="F26419"/>
                </a:solidFill>
                <a:latin typeface="Trebuchet MS"/>
              </a:defRPr>
            </a:pPr>
            <a:r>
              <a:t>3. Simulation Engine</a:t>
            </a:r>
          </a:p>
          <a:p>
            <a:pPr algn="ctr">
              <a:spcBef>
                <a:spcPts val="10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Applies user-selected offsets and recursive AI forecasting models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778240" y="3200400"/>
            <a:ext cx="457200" cy="365760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2377440"/>
            <a:ext cx="22860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defRPr sz="1400" b="1">
                <a:solidFill>
                  <a:srgbClr val="F26419"/>
                </a:solidFill>
                <a:latin typeface="Trebuchet MS"/>
              </a:defRPr>
            </a:pPr>
            <a:r>
              <a:t>4. Actionable Alerts</a:t>
            </a:r>
          </a:p>
          <a:p>
            <a:pPr algn="ctr">
              <a:spcBef>
                <a:spcPts val="10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Renders Folium GIS Maps, threat scores, and warning card banners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B132B"/>
                </a:solidFill>
                <a:latin typeface="Trebuchet MS"/>
              </a:defRPr>
            </a:pPr>
            <a:r>
              <a:t>Wireframes &amp; Live Application Interface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ISRO Bharatiya Antariksh Hackathon 2026  |  Designed by Team DhruvaX  |  Digital Twin of India's Climate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132B"/>
                </a:solidFill>
                <a:latin typeface="Trebuchet MS"/>
              </a:defRPr>
            </a:pPr>
            <a:r>
              <a:t>Deployed Application URL:</a:t>
            </a:r>
          </a:p>
          <a:p>
            <a:pPr>
              <a:spcBef>
                <a:spcPts val="500"/>
              </a:spcBef>
              <a:defRPr sz="1300" b="1">
                <a:solidFill>
                  <a:srgbClr val="F26419"/>
                </a:solidFill>
                <a:latin typeface="Courier New"/>
              </a:defRPr>
            </a:pPr>
            <a:r>
              <a:t>https://dhanveer-7-climate-twin--app-eodlti.streamlit.app/</a:t>
            </a:r>
          </a:p>
          <a:p>
            <a:pPr>
              <a:spcBef>
                <a:spcPts val="2000"/>
              </a:spcBef>
              <a:defRPr sz="1600" b="1">
                <a:solidFill>
                  <a:srgbClr val="0B132B"/>
                </a:solidFill>
                <a:latin typeface="Trebuchet MS"/>
              </a:defRPr>
            </a:pPr>
            <a:r>
              <a:t>Key UI Sandboxes and Layouts:</a:t>
            </a:r>
          </a:p>
          <a:p>
            <a:pPr>
              <a:spcBef>
                <a:spcPts val="800"/>
              </a:spcBef>
              <a:defRPr b="1" sz="1200">
                <a:solidFill>
                  <a:srgbClr val="00B4D8"/>
                </a:solidFill>
                <a:latin typeface="Trebuchet MS"/>
              </a:defRPr>
            </a:pPr>
            <a:r>
              <a:t>• 1. Operations Room Map:</a:t>
            </a:r>
          </a:p>
          <a:p>
            <a:pPr>
              <a:spcBef>
                <a:spcPts val="1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Fully interactive state-wise climate anomaly overlay.</a:t>
            </a:r>
          </a:p>
          <a:p>
            <a:pPr>
              <a:spcBef>
                <a:spcPts val="800"/>
              </a:spcBef>
              <a:defRPr b="1" sz="1200">
                <a:solidFill>
                  <a:srgbClr val="00B4D8"/>
                </a:solidFill>
                <a:latin typeface="Trebuchet MS"/>
              </a:defRPr>
            </a:pPr>
            <a:r>
              <a:t>• 2. ML Predictions Board:</a:t>
            </a:r>
          </a:p>
          <a:p>
            <a:pPr>
              <a:spcBef>
                <a:spcPts val="1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Side-by-side comparison of XGBoost vs RF forecasts.</a:t>
            </a:r>
          </a:p>
          <a:p>
            <a:pPr>
              <a:spcBef>
                <a:spcPts val="800"/>
              </a:spcBef>
              <a:defRPr b="1" sz="1200">
                <a:solidFill>
                  <a:srgbClr val="00B4D8"/>
                </a:solidFill>
                <a:latin typeface="Trebuchet MS"/>
              </a:defRPr>
            </a:pPr>
            <a:r>
              <a:t>• 3. Scenario Simulator:</a:t>
            </a:r>
          </a:p>
          <a:p>
            <a:pPr>
              <a:spcBef>
                <a:spcPts val="1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User-interactive gauge sliders to alter ΔT and ΔR.</a:t>
            </a:r>
          </a:p>
          <a:p>
            <a:pPr>
              <a:spcBef>
                <a:spcPts val="800"/>
              </a:spcBef>
              <a:defRPr b="1" sz="1200">
                <a:solidFill>
                  <a:srgbClr val="00B4D8"/>
                </a:solidFill>
                <a:latin typeface="Trebuchet MS"/>
              </a:defRPr>
            </a:pPr>
            <a:r>
              <a:t>• 4. Warning Card System:</a:t>
            </a:r>
          </a:p>
          <a:p>
            <a:pPr>
              <a:spcBef>
                <a:spcPts val="1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Instantly generates threat levels for farming/health sectors.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800" b="1">
                <a:solidFill>
                  <a:srgbClr val="F26419"/>
                </a:solidFill>
                <a:latin typeface="Trebuchet MS"/>
              </a:defRPr>
            </a:pPr>
            <a:r>
              <a:t>Interactive Screen Walkthrough</a:t>
            </a:r>
          </a:p>
          <a:p>
            <a:pPr>
              <a:spcBef>
                <a:spcPts val="1500"/>
              </a:spcBef>
              <a:defRPr sz="1300">
                <a:solidFill>
                  <a:srgbClr val="0B132B"/>
                </a:solidFill>
                <a:latin typeface="Arial"/>
              </a:defRPr>
            </a:pPr>
            <a:r>
              <a:t>The digital twin has been deployed to Streamlit Community Cloud and is accessible globally. It features a space-inspired Dark Blue Operations Dashboard styling tailored for the ISRO hackathon theme.</a:t>
            </a:r>
            <a:br/>
            <a:br/>
            <a:r>
              <a:t>Features responsive sidebars with Click-Only Dropdowns to improve the user experience on tablets and laptops, completely avoiding default keyboard blinking cursor boxes.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B132B"/>
                </a:solidFill>
                <a:latin typeface="Trebuchet M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ISRO Bharatiya Antariksh Hackathon 2026  |  Designed by Team DhruvaX  |  Digital Twin of India's Climate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1036289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64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0B132B"/>
                </a:solidFill>
                <a:latin typeface="Trebuchet MS"/>
              </a:defRPr>
            </a:pPr>
            <a:r>
              <a:t>Presentation Layer (Dashboard UI)</a:t>
            </a:r>
          </a:p>
          <a:p>
            <a:pPr>
              <a:spcBef>
                <a:spcPts val="3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Streamlit Frontend + Custom CSS Theme + Folium GIS Maps + Plotly Gauge Charts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1036289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0B132B"/>
                </a:solidFill>
                <a:latin typeface="Trebuchet MS"/>
              </a:defRPr>
            </a:pPr>
            <a:r>
              <a:t>Simulation Engine (What-If Sandbox)</a:t>
            </a:r>
          </a:p>
          <a:p>
            <a:pPr>
              <a:spcBef>
                <a:spcPts val="3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What-If Simulator + Dynamic Stress Calculators + Sectoral Impact Warning Cards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0B132B"/>
                </a:solidFill>
                <a:latin typeface="Trebuchet MS"/>
              </a:defRPr>
            </a:pPr>
            <a:r>
              <a:t>Machine Learning Layer (AI Forecasting)</a:t>
            </a:r>
          </a:p>
          <a:p>
            <a:pPr>
              <a:spcBef>
                <a:spcPts val="3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Pre-trained RF Regressors &amp; XGBoost Regressors (Multi-step recursive 7-day/30-day forecast loops)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937760"/>
            <a:ext cx="10362895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500" b="1">
                <a:solidFill>
                  <a:srgbClr val="0B132B"/>
                </a:solidFill>
                <a:latin typeface="Trebuchet MS"/>
              </a:defRPr>
            </a:pPr>
            <a:r>
              <a:t>Data Storage Layer (Relational DB)</a:t>
            </a:r>
          </a:p>
          <a:p>
            <a:pPr>
              <a:spcBef>
                <a:spcPts val="3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Local SQLite Database containing 223,524 daily historical state records (2010-2026)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B132B"/>
                </a:solidFill>
                <a:latin typeface="Trebuchet MS"/>
              </a:defRPr>
            </a:pPr>
            <a:r>
              <a:t>Technologies &amp; Libraries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ISRO Bharatiya Antariksh Hackathon 2026  |  Designed by Team DhruvaX  |  Digital Twin of India's Climate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600" b="1">
                <a:solidFill>
                  <a:srgbClr val="F26419"/>
                </a:solidFill>
                <a:latin typeface="Trebuchet MS"/>
              </a:defRPr>
            </a:pPr>
            <a:r>
              <a:t>Web &amp; Dashboard</a:t>
            </a:r>
          </a:p>
          <a:p>
            <a:pPr>
              <a:spcBef>
                <a:spcPts val="400"/>
              </a:spcBef>
              <a:defRPr sz="1200">
                <a:solidFill>
                  <a:srgbClr val="0B132B"/>
                </a:solidFill>
                <a:latin typeface="Arial"/>
              </a:defRPr>
            </a:pPr>
            <a:r>
              <a:t>• Streamlit (v1.40+)</a:t>
            </a:r>
          </a:p>
          <a:p>
            <a:pPr>
              <a:spcBef>
                <a:spcPts val="400"/>
              </a:spcBef>
              <a:defRPr sz="1200">
                <a:solidFill>
                  <a:srgbClr val="0B132B"/>
                </a:solidFill>
                <a:latin typeface="Arial"/>
              </a:defRPr>
            </a:pPr>
            <a:r>
              <a:t>• HTML5 / Custom CSS (Operations Theme)</a:t>
            </a:r>
          </a:p>
          <a:p>
            <a:pPr>
              <a:spcBef>
                <a:spcPts val="400"/>
              </a:spcBef>
              <a:defRPr sz="1200">
                <a:solidFill>
                  <a:srgbClr val="0B132B"/>
                </a:solidFill>
                <a:latin typeface="Arial"/>
              </a:defRPr>
            </a:pPr>
            <a:r>
              <a:t>• Jinja2 Templates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600" b="1">
                <a:solidFill>
                  <a:srgbClr val="F26419"/>
                </a:solidFill>
                <a:latin typeface="Trebuchet MS"/>
              </a:defRPr>
            </a:pPr>
            <a:r>
              <a:t>Machine Learning</a:t>
            </a:r>
          </a:p>
          <a:p>
            <a:pPr>
              <a:spcBef>
                <a:spcPts val="400"/>
              </a:spcBef>
              <a:defRPr sz="1200">
                <a:solidFill>
                  <a:srgbClr val="0B132B"/>
                </a:solidFill>
                <a:latin typeface="Arial"/>
              </a:defRPr>
            </a:pPr>
            <a:r>
              <a:t>• XGBoost Regressor</a:t>
            </a:r>
          </a:p>
          <a:p>
            <a:pPr>
              <a:spcBef>
                <a:spcPts val="400"/>
              </a:spcBef>
              <a:defRPr sz="1200">
                <a:solidFill>
                  <a:srgbClr val="0B132B"/>
                </a:solidFill>
                <a:latin typeface="Arial"/>
              </a:defRPr>
            </a:pPr>
            <a:r>
              <a:t>• Scikit-Learn (Random Forest)</a:t>
            </a:r>
          </a:p>
          <a:p>
            <a:pPr>
              <a:spcBef>
                <a:spcPts val="400"/>
              </a:spcBef>
              <a:defRPr sz="1200">
                <a:solidFill>
                  <a:srgbClr val="0B132B"/>
                </a:solidFill>
                <a:latin typeface="Arial"/>
              </a:defRPr>
            </a:pPr>
            <a:r>
              <a:t>• Pickle Serialization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600" b="1">
                <a:solidFill>
                  <a:srgbClr val="F26419"/>
                </a:solidFill>
                <a:latin typeface="Trebuchet MS"/>
              </a:defRPr>
            </a:pPr>
            <a:r>
              <a:t>Data Storage</a:t>
            </a:r>
          </a:p>
          <a:p>
            <a:pPr>
              <a:spcBef>
                <a:spcPts val="400"/>
              </a:spcBef>
              <a:defRPr sz="1200">
                <a:solidFill>
                  <a:srgbClr val="0B132B"/>
                </a:solidFill>
                <a:latin typeface="Arial"/>
              </a:defRPr>
            </a:pPr>
            <a:r>
              <a:t>• SQLite3 Database Engine</a:t>
            </a:r>
          </a:p>
          <a:p>
            <a:pPr>
              <a:spcBef>
                <a:spcPts val="400"/>
              </a:spcBef>
              <a:defRPr sz="1200">
                <a:solidFill>
                  <a:srgbClr val="0B132B"/>
                </a:solidFill>
                <a:latin typeface="Arial"/>
              </a:defRPr>
            </a:pPr>
            <a:r>
              <a:t>• Pandas Climatology Pipelines</a:t>
            </a:r>
          </a:p>
          <a:p>
            <a:pPr>
              <a:spcBef>
                <a:spcPts val="400"/>
              </a:spcBef>
              <a:defRPr sz="1200">
                <a:solidFill>
                  <a:srgbClr val="0B132B"/>
                </a:solidFill>
                <a:latin typeface="Arial"/>
              </a:defRPr>
            </a:pPr>
            <a:r>
              <a:t>• NumPy Numerical Operations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40480"/>
            <a:ext cx="493776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600" b="1">
                <a:solidFill>
                  <a:srgbClr val="F26419"/>
                </a:solidFill>
                <a:latin typeface="Trebuchet MS"/>
              </a:defRPr>
            </a:pPr>
            <a:r>
              <a:t>Geospatial &amp; Charts</a:t>
            </a:r>
          </a:p>
          <a:p>
            <a:pPr>
              <a:spcBef>
                <a:spcPts val="400"/>
              </a:spcBef>
              <a:defRPr sz="1200">
                <a:solidFill>
                  <a:srgbClr val="0B132B"/>
                </a:solidFill>
                <a:latin typeface="Arial"/>
              </a:defRPr>
            </a:pPr>
            <a:r>
              <a:t>• Folium Map Overlay</a:t>
            </a:r>
          </a:p>
          <a:p>
            <a:pPr>
              <a:spcBef>
                <a:spcPts val="400"/>
              </a:spcBef>
              <a:defRPr sz="1200">
                <a:solidFill>
                  <a:srgbClr val="0B132B"/>
                </a:solidFill>
                <a:latin typeface="Arial"/>
              </a:defRPr>
            </a:pPr>
            <a:r>
              <a:t>• Plotly Express</a:t>
            </a:r>
          </a:p>
          <a:p>
            <a:pPr>
              <a:spcBef>
                <a:spcPts val="400"/>
              </a:spcBef>
              <a:defRPr sz="1200">
                <a:solidFill>
                  <a:srgbClr val="0B132B"/>
                </a:solidFill>
                <a:latin typeface="Arial"/>
              </a:defRPr>
            </a:pPr>
            <a:r>
              <a:t>• Branca (HTML Map Rendering)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800" b="1">
                <a:solidFill>
                  <a:srgbClr val="0B132B"/>
                </a:solidFill>
                <a:latin typeface="Trebuchet MS"/>
              </a:defRPr>
            </a:pPr>
            <a:r>
              <a:t>Implementation Cost &amp; Scalability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36576"/>
          </a:xfrm>
          <a:prstGeom prst="rect">
            <a:avLst/>
          </a:prstGeom>
          <a:solidFill>
            <a:srgbClr val="F26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Arial"/>
              </a:defRPr>
            </a:pPr>
            <a:r>
              <a:t>ISRO Bharatiya Antariksh Hackathon 2026  |  Designed by Team DhruvaX  |  Digital Twin of India's Climate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32B"/>
                </a:solidFill>
                <a:latin typeface="Trebuchet MS"/>
              </a:defRPr>
            </a:pPr>
            <a:r>
              <a:t>Implementation Cost Assessment</a:t>
            </a:r>
          </a:p>
          <a:p>
            <a:pPr>
              <a:spcBef>
                <a:spcPts val="1200"/>
              </a:spcBef>
              <a:defRPr b="1" sz="1200">
                <a:solidFill>
                  <a:srgbClr val="F26419"/>
                </a:solidFill>
                <a:latin typeface="Trebuchet MS"/>
              </a:defRPr>
            </a:pPr>
            <a:r>
              <a:t>• Infrastructure Cost: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Deployed on free cloud containers (Streamlit Cloud). Enterprise scaling costs &lt; $10/month.</a:t>
            </a:r>
          </a:p>
          <a:p>
            <a:pPr>
              <a:spcBef>
                <a:spcPts val="1200"/>
              </a:spcBef>
              <a:defRPr b="1" sz="1200">
                <a:solidFill>
                  <a:srgbClr val="F26419"/>
                </a:solidFill>
                <a:latin typeface="Trebuchet MS"/>
              </a:defRPr>
            </a:pPr>
            <a:r>
              <a:t>• Computation: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Pre-trained regressors run prediction loops on CPU in milliseconds, bypassing GPU needs.</a:t>
            </a:r>
          </a:p>
          <a:p>
            <a:pPr>
              <a:spcBef>
                <a:spcPts val="1200"/>
              </a:spcBef>
              <a:defRPr b="1" sz="1200">
                <a:solidFill>
                  <a:srgbClr val="F26419"/>
                </a:solidFill>
                <a:latin typeface="Trebuchet MS"/>
              </a:defRPr>
            </a:pPr>
            <a:r>
              <a:t>• Database Size: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Relational database takes &lt; 50MB, saving high database hosting budgets.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B132B"/>
                </a:solidFill>
                <a:latin typeface="Trebuchet MS"/>
              </a:defRPr>
            </a:pPr>
            <a:r>
              <a:t>Future Scalability Roadmap</a:t>
            </a:r>
          </a:p>
          <a:p>
            <a:pPr>
              <a:spcBef>
                <a:spcPts val="1200"/>
              </a:spcBef>
              <a:defRPr b="1" sz="1200">
                <a:solidFill>
                  <a:srgbClr val="00B4D8"/>
                </a:solidFill>
                <a:latin typeface="Trebuchet MS"/>
              </a:defRPr>
            </a:pPr>
            <a:r>
              <a:t>• INSAT Stream Sync: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Ingesting satellite telemetry streams (monsoon clouds) dynamically.</a:t>
            </a:r>
          </a:p>
          <a:p>
            <a:pPr>
              <a:spcBef>
                <a:spcPts val="1200"/>
              </a:spcBef>
              <a:defRPr b="1" sz="1200">
                <a:solidFill>
                  <a:srgbClr val="00B4D8"/>
                </a:solidFill>
                <a:latin typeface="Trebuchet MS"/>
              </a:defRPr>
            </a:pPr>
            <a:r>
              <a:t>• Ground Sensors (REST API):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Connect state weather grids directly to relational SQL db.</a:t>
            </a:r>
          </a:p>
          <a:p>
            <a:pPr>
              <a:spcBef>
                <a:spcPts val="1200"/>
              </a:spcBef>
              <a:defRPr b="1" sz="1200">
                <a:solidFill>
                  <a:srgbClr val="00B4D8"/>
                </a:solidFill>
                <a:latin typeface="Trebuchet MS"/>
              </a:defRPr>
            </a:pPr>
            <a:r>
              <a:t>• Deep Learning Models:</a:t>
            </a:r>
          </a:p>
          <a:p>
            <a:pPr>
              <a:spcBef>
                <a:spcPts val="200"/>
              </a:spcBef>
              <a:defRPr sz="1100">
                <a:solidFill>
                  <a:srgbClr val="282828"/>
                </a:solidFill>
                <a:latin typeface="Arial"/>
              </a:defRPr>
            </a:pPr>
            <a:r>
              <a:t>Replacing regressors with ConvLSTMs to capture complex multi-layer meteorological movements.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26419"/>
                </a:solidFill>
                <a:latin typeface="Trebuchet MS"/>
              </a:defRPr>
            </a:pPr>
            <a:r>
              <a:t>THANK YOU</a:t>
            </a:r>
          </a:p>
          <a:p>
            <a:pPr algn="ctr">
              <a:spcBef>
                <a:spcPts val="2000"/>
              </a:spcBef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Bharatiya Antariksh Hackathon 2026</a:t>
            </a:r>
          </a:p>
          <a:p>
            <a:pPr algn="ctr">
              <a:spcBef>
                <a:spcPts val="1500"/>
              </a:spcBef>
              <a:defRPr sz="1600">
                <a:solidFill>
                  <a:srgbClr val="00B4D8"/>
                </a:solidFill>
                <a:latin typeface="Trebuchet MS"/>
              </a:defRPr>
            </a:pPr>
            <a:r>
              <a:t>Presented by Team DhruvaX  |  Empowering Climate Resilience with Digital Twins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